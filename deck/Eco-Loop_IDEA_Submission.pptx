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Improvement vs baseline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 vs baseline</c:v>
                </c:pt>
              </c:strCache>
            </c:strRef>
          </c:tx>
          <c:spPr>
            <a:solidFill>
              <a:srgbClr val="2C5F2D"/>
            </a:solidFill>
          </c:spPr>
          <c:cat>
            <c:strRef>
              <c:f>Sheet1!$A$2:$A$5</c:f>
              <c:strCache>
                <c:ptCount val="4"/>
                <c:pt idx="0">
                  <c:v>Electricity
used</c:v>
                </c:pt>
                <c:pt idx="1">
                  <c:v>Total
energy</c:v>
                </c:pt>
                <c:pt idx="2">
                  <c:v>Peak
demand</c:v>
                </c:pt>
                <c:pt idx="3">
                  <c:v>PMV in
comfort band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6.76</c:v>
                </c:pt>
                <c:pt idx="1">
                  <c:v>6.44</c:v>
                </c:pt>
                <c:pt idx="2">
                  <c:v>7.64</c:v>
                </c:pt>
                <c:pt idx="3">
                  <c:v>14.5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3192" y="1207008"/>
            <a:ext cx="6949440" cy="4690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000" b="1" i="0" u="none">
                <a:solidFill>
                  <a:srgbClr val="1E2B3A"/>
                </a:solidFill>
              </a:rPr>
              <a:t>Problem Statement ID -  [FILL FROM PORTAL]</a:t>
            </a: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sz="2000" b="1" i="0" u="none">
                <a:solidFill>
                  <a:srgbClr val="1E2B3A"/>
                </a:solidFill>
              </a:rPr>
              <a:t>Problem Statement Title -  Eco-Loop Building Agents</a:t>
            </a: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sz="2000" b="0" i="0" u="none">
                <a:solidFill>
                  <a:srgbClr val="1E2B3A"/>
                </a:solidFill>
              </a:rPr>
              <a:t>Theme -  [FILL FROM PORTAL]</a:t>
            </a: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sz="2000" b="0" i="0" u="none">
                <a:solidFill>
                  <a:srgbClr val="1E2B3A"/>
                </a:solidFill>
              </a:rPr>
              <a:t>PS Category -  Software</a:t>
            </a: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sz="2000" b="0" i="0" u="none">
                <a:solidFill>
                  <a:srgbClr val="1E2B3A"/>
                </a:solidFill>
              </a:rPr>
              <a:t>Student Name -  Divyansh Mishra</a:t>
            </a: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sz="2000" b="0" i="0" u="none">
                <a:solidFill>
                  <a:srgbClr val="1E2B3A"/>
                </a:solidFill>
              </a:rPr>
              <a:t>Student ID -  [FILL FROM PORTAL]</a:t>
            </a: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sz="1000" b="0" i="0" u="none">
                <a:solidFill>
                  <a:srgbClr val="1E2B3A"/>
                </a:solidFill>
              </a:rPr>
              <a:t/>
            </a: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sz="1500" b="1" i="0" u="none">
                <a:solidFill>
                  <a:srgbClr val="2C5F2D"/>
                </a:solidFill>
              </a:rPr>
              <a:t>Autonomous closed-loop building energy control:</a:t>
            </a: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sz="1500" b="0" i="1" u="none">
                <a:solidFill>
                  <a:srgbClr val="556677"/>
                </a:solidFill>
              </a:rPr>
              <a:t>EnergyPlus digital twin  x  open-source LLM  x  MCP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7200" y="1234440"/>
            <a:ext cx="1124712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US" sz="2000" b="1" u="none" dirty="0" i="0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400"/>
              </a:spcAft>
              <a:buNone/>
            </a:pPr>
            <a:r>
              <a:rPr lang="en-US" sz="1400" b="0" u="none" dirty="0" i="0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A two-tier controller wrapped around a live EnergyPlus simulation. The LLM does not sit in the control loop - it writes the control policy the loop executes.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400"/>
              </a:spcAft>
              <a:buNone/>
            </a:pPr>
            <a:r>
              <a:rPr lang="en-US" sz="1500" b="1" u="none" dirty="0" i="0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Tier 2 - Cognitive (once per simulated day)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 lvl="1">
              <a:spcAft>
                <a:spcPts val="400"/>
              </a:spcAft>
              <a:buNone/>
            </a:pPr>
            <a:r>
              <a:rPr lang="en-US" sz="1300" b="0" u="none" dirty="0" i="0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Open-source LLM reads building state through MCP tools, then emits a setpoint policy as validated JSON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400"/>
              </a:spcAft>
              <a:buNone/>
            </a:pPr>
            <a:r>
              <a:rPr lang="en-US" sz="1500" b="1" u="none" dirty="0" i="0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Tier 1 - Reflex (every timestep)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 lvl="1">
              <a:spcAft>
                <a:spcPts val="400"/>
              </a:spcAft>
              <a:buNone/>
            </a:pPr>
            <a:r>
              <a:rPr lang="en-US" sz="1300" b="0" u="none" dirty="0" i="0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Pure arithmetic, no I/O, cannot raise. Applies the policy, clamps to a hard safety envelope, writes setpoints via the EnergyPlus API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400"/>
              </a:spcAft>
              <a:buNone/>
            </a:pPr>
            <a:r>
              <a:rPr lang="en-US" sz="1500" b="1" u="none" dirty="0" i="0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Why this design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 lvl="1">
              <a:spcAft>
                <a:spcPts val="400"/>
              </a:spcAft>
              <a:buNone/>
            </a:pPr>
            <a:r>
              <a:rPr lang="en-US" sz="1300" b="0" u="none" dirty="0" i="0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An annual run is 35,040 timesteps - an LLM call per timestep is both too slow and one malformed reply away from a dead run. Decoupled, the simulation completes even if the model server dies mid-run.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400"/>
              </a:spcAft>
              <a:buNone/>
            </a:pPr>
            <a:r>
              <a:rPr lang="en-US" sz="1500" b="1" u="none" dirty="0" i="0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Innovation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 lvl="1">
              <a:spcAft>
                <a:spcPts val="400"/>
              </a:spcAft>
              <a:buNone/>
            </a:pPr>
            <a:r>
              <a:rPr lang="en-US" sz="1300" b="0" u="none" dirty="0" i="0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Supervisory MPC with an LLM policy layer; setpoint safety enforced twice over (schema bounds, then an independent clamp at the actuator); setback driven by measured occupancy, not a clock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400"/>
              </a:spcAft>
              <a:buNone/>
            </a:pPr>
            <a:r>
              <a:rPr lang="en-US" sz="1400" b="1" u="none" dirty="0" i="0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Measured, 7-day July A/B, LLM-authored policy:  -6.76% electricity   -7.64% peak demand   PMV -0.391 to +0.14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143000"/>
            <a:ext cx="11247120" cy="5303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1800" dirty="0" b="1" i="0" u="none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Technologies</a:t>
            </a:r>
          </a:p>
          <a:p>
            <a:pPr marL="342900" indent="-342900" algn="just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13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Python 3.11  |  EnergyPlus 26.1 Python API (pyenergyplus)  |  Model Context Protocol (FastMCP)  |  Ollama - Llama 3.2  |  Pydantic  |  Streamlit + Plotly  |  pytest</a:t>
            </a:r>
          </a:p>
          <a:p>
            <a:pPr marL="342900" indent="-342900" algn="just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1800" dirty="0" b="1" i="0" u="none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Closed-loop data flow</a:t>
            </a:r>
          </a:p>
          <a:p>
            <a:pPr marL="342900" indent="-342900" algn="just" lvl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13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EnergyPlus  -&gt;  SensorBus (handle binding, warmup + design-day filtering, rolling aggregation)</a:t>
            </a:r>
          </a:p>
          <a:p>
            <a:pPr marL="342900" indent="-342900" algn="just" lvl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13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-&gt;  MCP tool surface  -&gt;  LLM  -&gt;  Policy JSON  -&gt;  Pydantic validation</a:t>
            </a:r>
          </a:p>
          <a:p>
            <a:pPr marL="342900" indent="-342900" algn="just" lvl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13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-&gt;  PolicyExecutor (hard clamp)  -&gt;  set_actuator_value  -&gt;  back into EnergyPlus</a:t>
            </a:r>
          </a:p>
          <a:p>
            <a:pPr marL="342900" indent="-342900" algn="just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1800" dirty="0" b="1" i="0" u="none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Tool-calling architecture</a:t>
            </a:r>
          </a:p>
          <a:p>
            <a:pPr marL="342900" indent="-342900" algn="just" lvl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13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7 MCP tools, implemented once and exposed twice - to the in-process agent and to any external MCP client, so behaviour cannot drift</a:t>
            </a:r>
          </a:p>
          <a:p>
            <a:pPr marL="342900" indent="-342900" algn="just" lvl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13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commit_policy is the only writer. It returns structured rejections (offending field + reason) which are fed back into the retry prompt, so the model corrects one field instead of resampling blindly</a:t>
            </a:r>
          </a:p>
          <a:p>
            <a:pPr marL="342900" indent="-342900" algn="just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1800" dirty="0" b="1" i="0" u="none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Latency management</a:t>
            </a:r>
          </a:p>
          <a:p>
            <a:pPr marL="342900" indent="-342900" algn="just" lvl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13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Agent runs on a daemon thread with a busy guard and a 20 s timeout; one invocation per simulated day means 365 LLM calls per annual run, not 35,040</a:t>
            </a:r>
          </a:p>
          <a:p>
            <a:pPr marL="342900" indent="-342900" algn="just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1800" dirty="0" b="1" i="0" u="none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Handling lengthy simulation logs</a:t>
            </a:r>
          </a:p>
          <a:p>
            <a:pPr marL="342900" indent="-342900" algn="just" lvl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13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Severity filter, numeric normalisation, then deduplicate with counts - a .err file of tens of thousands of lines collapses to a handful of messages. Telemetry is aggregated to min/mean/max; the tools cannot return raw arrays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143000"/>
            <a:ext cx="11247120" cy="5303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800" dirty="0" b="1" i="0" u="none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Feasibility - already working, not a proposal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3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Running end to end on the DOE reference small office (5 conditioned zones, Chicago TMY3). 7-day baseline vs controlled A/B complete. 41 unit tests green.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3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Pure software: no hardware, no proprietary licences, no cloud dependency - the LLM runs locally.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800" dirty="0" b="1" i="0" u="none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Challenges met during build, and how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1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2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LLM emits an out-of-range setpoint  -&gt;  Pydantic bounds reject it, feedback drives a corrected retry; an independent clamp at the actuator makes an unsafe value unreachable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1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2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LLM server dies mid-run  -&gt;  reflex tier continues on the last-known-good policy and the simulation still completes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1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2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Actuator or meter name absent from the model  -&gt;  probed from eplusout.edd and the API data dump; binding fails loudly instead of writing nothing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1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2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Simulation silently ran design days only  -&gt;  filtered on kind_of_sim, and the simulated span is now reported every run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1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2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Comfort scored while the building was empty  -&gt;  PMV and unmet hours now measured only against measured occupancy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800" dirty="0" b="1" i="0" u="none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Viability and impact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3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Buildings are ~40% of global energy use. A 5% cut needs no capital works - it is a supervisory layer over the existing BMS, and the same loop retargets to any EnergyPlus model by editing one config file.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6492240" cy="5303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700" dirty="0" b="1" i="0" u="none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Measured results - 7-day July A/B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100" dirty="0" b="0" i="1" u="none">
                <a:solidFill>
                  <a:srgbClr val="556677"/>
                </a:solidFill>
                <a:latin typeface="Arial" pitchFamily="34" charset="0"/>
                <a:cs typeface="Arial" pitchFamily="34" charset="0"/>
              </a:rPr>
              <a:t>Policy authored by the LLM (llama3.2:3b, local, temperature 0 so the run is reproducible). Identical model and weather; only the controller differs.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300" dirty="0" b="1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Electricity      1251.97  -&gt;  1167.33 kWh      -6.76%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300" dirty="0" b="1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Total energy     1309.46  -&gt;  1225.14 kWh      -6.44%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300" dirty="0" b="1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Peak demand        18.97  -&gt;    17.52 kW       -7.64%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700" dirty="0" b="1" i="0" u="none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Comfort - occupied hours only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3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Mean PMV          -0.391  -&gt;   +0.140    band -0.5 to +0.5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3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PMV in band        82.8%  -&gt;    97.3%    +14.5 pp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200" dirty="0" b="0" i="0" u="none">
                <a:solidFill>
                  <a:srgbClr val="556677"/>
                </a:solidFill>
                <a:latin typeface="Arial" pitchFamily="34" charset="0"/>
                <a:cs typeface="Arial" pitchFamily="34" charset="0"/>
              </a:rPr>
              <a:t>Unmet setpoint      0.00% -&gt;     0.60%   of occupied zone-hours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100" dirty="0" b="0" i="1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The stock schedule overcools (PMV -0.39), so raising the occupied cooling setpoint saves energy AND moves comfort toward neutral - aligned, not in tension. The agent beat a hand-tuned static policy (-5.08%) on the same model.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500" dirty="0" b="1" i="0" u="none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Artifacts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100" dirty="0" b="0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Source, both .idf models + runtime policy snapshots, savings dashboard, architecture document, agent trace (tool calls, rejections, self-corrections)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200" dirty="0" b="1" i="0" u="none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Repository:  github.com/DivyanshM30/eco-loop-building-agents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100" dirty="0" b="1" i="0" u="none">
                <a:solidFill>
                  <a:srgbClr val="2C5F2D"/>
                </a:solidFill>
                <a:latin typeface="Arial" pitchFamily="34" charset="0"/>
                <a:cs typeface="Arial" pitchFamily="34" charset="0"/>
              </a:rPr>
              <a:t>PoC video (3 min):  drive.google.com/drive/folders/1BnIvuYQWBIXOHk3vVQ0LGkk2cF6vWLvq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graphicFrame>
        <p:nvGraphicFramePr>
          <p:cNvPr id="17411" name="Chart 17410"/>
          <p:cNvGraphicFramePr>
            <a:graphicFrameLocks noGrp="1"/>
          </p:cNvGraphicFramePr>
          <p:nvPr/>
        </p:nvGraphicFramePr>
        <p:xfrm>
          <a:off x="7178040" y="1600200"/>
          <a:ext cx="45720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234440"/>
            <a:ext cx="1124712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400" noProof="0" dirty="0" b="1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EnergyPlus - Using EnergyPlus as a Library (Runtime and Data Exchange API)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200" noProof="0" dirty="0" b="0" i="0" u="none">
                <a:solidFill>
                  <a:srgbClr val="556677"/>
                </a:solidFill>
                <a:latin typeface="Arial" pitchFamily="34" charset="0"/>
                <a:cs typeface="Arial" pitchFamily="34" charset="0"/>
              </a:rPr>
              <a:t>bigladdersoftware.com/epx/docs/23-2/input-output-reference/api-usage.html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400" noProof="0" dirty="0" b="1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EnergyPlus Python API reference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200" noProof="0" dirty="0" b="0" i="0" u="none">
                <a:solidFill>
                  <a:srgbClr val="556677"/>
                </a:solidFill>
                <a:latin typeface="Arial" pitchFamily="34" charset="0"/>
                <a:cs typeface="Arial" pitchFamily="34" charset="0"/>
              </a:rPr>
              <a:t>energyplus.readthedocs.io/en/latest/runtime.html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400" noProof="0" dirty="0" b="1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EnergyPlus API examples - NREL/EnergyPlus repository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200" noProof="0" dirty="0" b="0" i="0" u="none">
                <a:solidFill>
                  <a:srgbClr val="556677"/>
                </a:solidFill>
                <a:latin typeface="Arial" pitchFamily="34" charset="0"/>
                <a:cs typeface="Arial" pitchFamily="34" charset="0"/>
              </a:rPr>
              <a:t>github.com/NREL/EnergyPlus/tree/develop/tst/EnergyPlus/api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400" noProof="0" dirty="0" b="1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DOE Commercial Reference Buildings - Small Office, New Construction 2004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200" noProof="0" dirty="0" b="0" i="0" u="none">
                <a:solidFill>
                  <a:srgbClr val="556677"/>
                </a:solidFill>
                <a:latin typeface="Arial" pitchFamily="34" charset="0"/>
                <a:cs typeface="Arial" pitchFamily="34" charset="0"/>
              </a:rPr>
              <a:t>energy.gov/eere/buildings/commercial-reference-buildings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400" noProof="0" dirty="0" b="1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Model Context Protocol specification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200" noProof="0" dirty="0" b="0" i="0" u="none">
                <a:solidFill>
                  <a:srgbClr val="556677"/>
                </a:solidFill>
                <a:latin typeface="Arial" pitchFamily="34" charset="0"/>
                <a:cs typeface="Arial" pitchFamily="34" charset="0"/>
              </a:rPr>
              <a:t>modelcontextprotocol.io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400" noProof="0" dirty="0" b="1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ASHRAE Standard 55 / Fanger PMV-PPD thermal comfort model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200" noProof="0" dirty="0" b="0" i="0" u="none">
                <a:solidFill>
                  <a:srgbClr val="556677"/>
                </a:solidFill>
                <a:latin typeface="Arial" pitchFamily="34" charset="0"/>
                <a:cs typeface="Arial" pitchFamily="34" charset="0"/>
              </a:rPr>
              <a:t>EnergyPlus Engineering Reference, Thermal Comfort chapter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400" noProof="0" dirty="0" b="1" i="0" u="none">
                <a:solidFill>
                  <a:srgbClr val="1E2B3A"/>
                </a:solidFill>
                <a:latin typeface="Arial" pitchFamily="34" charset="0"/>
                <a:cs typeface="Arial" pitchFamily="34" charset="0"/>
              </a:rPr>
              <a:t>Ollama - local open-source model serving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lang="en-US" sz="1200" noProof="0" dirty="0" b="0" i="0" u="none">
                <a:solidFill>
                  <a:srgbClr val="556677"/>
                </a:solidFill>
                <a:latin typeface="Arial" pitchFamily="34" charset="0"/>
                <a:cs typeface="Arial" pitchFamily="34" charset="0"/>
              </a:rPr>
              <a:t>ollama.com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